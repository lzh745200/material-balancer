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charts/chart2.xml" ContentType="application/vnd.openxmlformats-officedocument.drawingml.chart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测试用例数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F2D2B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4A89C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FD4CD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算法</c:v>
                  </c:pt>
                  <c:pt idx="1">
                    <c:v>导入/导出 IO</c:v>
                  </c:pt>
                  <c:pt idx="2">
                    <c:v>数据仓库 store</c:v>
                  </c:pt>
                  <c:pt idx="3">
                    <c:v>界面组件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</c:v>
                </c:pt>
                <c:pt idx="1">
                  <c:v>30</c:v>
                </c:pt>
                <c:pt idx="2">
                  <c:v>27</c:v>
                </c:pt>
                <c:pt idx="3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F2D2B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774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代码行数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134E4A"/>
              </a:solidFill>
              <a:effectLst/>
            </c:spPr>
          </c:dPt>
          <c:dPt>
            <c:idx val="3"/>
            <c:bubble3D val="0"/>
            <c:spPr>
              <a:solidFill>
                <a:srgbClr val="14A89C"/>
              </a:solidFill>
              <a:effectLst/>
            </c:spPr>
          </c:dPt>
          <c:dPt>
            <c:idx val="4"/>
            <c:bubble3D val="0"/>
            <c:spPr>
              <a:solidFill>
                <a:srgbClr val="8FD4CD"/>
              </a:solidFill>
              <a:effectLst/>
            </c:spPr>
          </c:dPt>
          <c:dPt>
            <c:idx val="5"/>
            <c:bubble3D val="0"/>
            <c:spPr>
              <a:solidFill>
                <a:srgbClr val="C9D6D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微软雅黑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界面组件</c:v>
                </c:pt>
                <c:pt idx="1">
                  <c:v>自动化测试</c:v>
                </c:pt>
                <c:pt idx="2">
                  <c:v>主进程</c:v>
                </c:pt>
                <c:pt idx="3">
                  <c:v>状态仓库</c:v>
                </c:pt>
                <c:pt idx="4">
                  <c:v>分配算法</c:v>
                </c:pt>
                <c:pt idx="5">
                  <c:v>共享契约等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2280</c:v>
                </c:pt>
                <c:pt idx="1">
                  <c:v>1116</c:v>
                </c:pt>
                <c:pt idx="2">
                  <c:v>882</c:v>
                </c:pt>
                <c:pt idx="3">
                  <c:v>602</c:v>
                </c:pt>
                <c:pt idx="4">
                  <c:v>533</c:v>
                </c:pt>
                <c:pt idx="5">
                  <c:v>294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647774"/>
              </a:solidFill>
              <a:latin typeface="微软雅黑"/>
              <a:cs typeface="微软雅黑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开场：一句话定位——把一份物资清单尽量公平地分给一群人，并生成可打印的 A4 签收表。强调完全离线。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3310128"/>
            <a:ext cx="4142232" cy="0"/>
          </a:xfrm>
          <a:prstGeom prst="line">
            <a:avLst/>
          </a:prstGeom>
          <a:noFill/>
          <a:ln w="38100">
            <a:solidFill>
              <a:srgbClr val="8FD4C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88736" y="3364992"/>
            <a:ext cx="420624" cy="365760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639312" y="2999232"/>
            <a:ext cx="621792" cy="621792"/>
          </a:xfrm>
          <a:prstGeom prst="ellipse">
            <a:avLst/>
          </a:prstGeom>
          <a:solidFill>
            <a:srgbClr val="14A89C"/>
          </a:solidFill>
          <a:ln/>
        </p:spPr>
      </p:sp>
      <p:sp>
        <p:nvSpPr>
          <p:cNvPr id="5" name="Shape 3"/>
          <p:cNvSpPr/>
          <p:nvPr/>
        </p:nvSpPr>
        <p:spPr>
          <a:xfrm>
            <a:off x="7936992" y="2999232"/>
            <a:ext cx="621792" cy="621792"/>
          </a:xfrm>
          <a:prstGeom prst="ellipse">
            <a:avLst/>
          </a:prstGeom>
          <a:solidFill>
            <a:srgbClr val="14A89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41732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3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0" y="2487168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spc="200" kern="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把每一份物资，都分得明明白白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0" y="41605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系统介绍 · 从功能到架构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77256" y="4709160"/>
            <a:ext cx="1234440" cy="420624"/>
          </a:xfrm>
          <a:prstGeom prst="roundRect">
            <a:avLst>
              <a:gd name="adj" fmla="val 50000"/>
            </a:avLst>
          </a:prstGeom>
          <a:solidFill>
            <a:srgbClr val="12574F"/>
          </a:solidFill>
          <a:ln/>
        </p:spPr>
      </p:sp>
      <p:sp>
        <p:nvSpPr>
          <p:cNvPr id="10" name="Text 8"/>
          <p:cNvSpPr/>
          <p:nvPr/>
        </p:nvSpPr>
        <p:spPr>
          <a:xfrm>
            <a:off x="5477256" y="4709160"/>
            <a:ext cx="1234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v1.1.0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完全离线 · Windows x64 / 麒麟 V10 ARM64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691640" y="15910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623560" y="16916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 · 解决的问题 · 核心特性 · 关键数字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2414016"/>
            <a:ext cx="9966960" cy="0"/>
          </a:xfrm>
          <a:prstGeom prst="line">
            <a:avLst/>
          </a:prstGeom>
          <a:noFill/>
          <a:ln w="12700">
            <a:solidFill>
              <a:srgbClr val="E4E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542032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1691640" y="256032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功能详解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623560" y="266090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三栏工作台 · 三种分配策略 · 手动调整 · 方案历史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1691640" y="3383280"/>
            <a:ext cx="9966960" cy="0"/>
          </a:xfrm>
          <a:prstGeom prst="line">
            <a:avLst/>
          </a:prstGeom>
          <a:noFill/>
          <a:ln w="12700">
            <a:solidFill>
              <a:srgbClr val="E4EC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511296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1691640" y="352958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导入导出与打印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623560" y="3630168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格式容错 · 数据安检 · Excel/CSV/PDF · A4 打印模板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691640" y="4352544"/>
            <a:ext cx="9966960" cy="0"/>
          </a:xfrm>
          <a:prstGeom prst="line">
            <a:avLst/>
          </a:prstGeom>
          <a:noFill/>
          <a:ln w="12700">
            <a:solidFill>
              <a:srgbClr val="E4EC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4805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1691640" y="449884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623560" y="459943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三进程模型 · 数据流动 · 确定性 · 安全 · 质量与 CI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691640" y="5321808"/>
            <a:ext cx="9966960" cy="0"/>
          </a:xfrm>
          <a:prstGeom prst="line">
            <a:avLst/>
          </a:prstGeom>
          <a:noFill/>
          <a:ln w="12700">
            <a:solidFill>
              <a:srgbClr val="E4EC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5449824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1691640" y="5468112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使用指南与展望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5623560" y="55686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五步上手 · 快捷键 · 性能指标 · 版本路线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57784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项目概述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57784" y="42245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项目定位   ·   解决的问题   ·   核心特性   ·   关键数字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OVERVIEW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项目是什么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把一份物资清单（名称 + 单价 + 数量），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尽可能公平地分配给若干人员，</a:t>
            </a:r>
            <a:endParaRPr lang="en-US" sz="2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24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并生成可打印签字的 A4 表格。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典型场景：年会奖品发放、工会福利领取、应急物资签收、班级/团队物品分发——凡是「人人有份、还要公平」的场合都适用。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0" y="1691640"/>
            <a:ext cx="47091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269480" y="1837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完全离线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269480" y="22219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不联网、不上传，数据只留在本机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0" y="2990088"/>
            <a:ext cx="47091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269480" y="3136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公平均衡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69480" y="35204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算法保证价值差距最小化，可量化验收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4288536"/>
            <a:ext cx="4709160" cy="1078992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开箱即用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269480" y="481888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导入清单 → 一键生成 → 打印签字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PROBLEM → SOLUTION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它解决什么问题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5486400" cy="4297680"/>
          </a:xfrm>
          <a:prstGeom prst="roundRect">
            <a:avLst>
              <a:gd name="adj" fmla="val 1915"/>
            </a:avLst>
          </a:prstGeom>
          <a:solidFill>
            <a:srgbClr val="FBF3E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人工分配的痛点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逐个抄写名单，几百件物资对到手软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分多分少全凭感觉，事后说不清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Excel 手算合计，一改数量全盘重来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签字表要手工排版、手工画格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6355080" y="1645920"/>
            <a:ext cx="5349240" cy="4297680"/>
          </a:xfrm>
          <a:prstGeom prst="roundRect">
            <a:avLst>
              <a:gd name="adj" fmla="val 1915"/>
            </a:avLst>
          </a:prstGeom>
          <a:solidFill>
            <a:srgbClr val="F0F6F5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工具带来的改变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720840" y="2377440"/>
            <a:ext cx="46634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清单导入 / 录入一次，反复使用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算法均衡：最大差值有量化指标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改数量即改结果，撤销重做随便试</a:t>
            </a:r>
            <a:endParaRPr lang="en-US" sz="1550" dirty="0"/>
          </a:p>
          <a:p>
            <a:pPr marL="152400" indent="-152400">
              <a:spcAft>
                <a:spcPts val="1400"/>
              </a:spcAft>
              <a:buSzPct val="100000"/>
              <a:buChar char="•"/>
            </a:pPr>
            <a:r>
              <a:rPr lang="en-US" sz="15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 签字表自动排版，直接打印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02920" y="610819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核心主张：把「分得公平」从一门手艺，变成一次点击。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FEATURES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六大核心特性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965960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三种分配策略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9535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贪心 / 贪心+优化 / 随机模式，速度与均衡可权衡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25112" y="1691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99432" y="1965960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4599432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599432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数量拆分与聚合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99432" y="29535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笔记本 ×5 自动拆 5 件参与分配，打印时按人聚合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47304" y="169164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421624" y="1965960"/>
            <a:ext cx="475488" cy="47548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8421624" y="19659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21624" y="256032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拖拽手动微调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421624" y="295351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生成后在人员卡片间拖物资，统计实时更新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02920" y="3931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77240" y="4206240"/>
            <a:ext cx="475488" cy="475488"/>
          </a:xfrm>
          <a:prstGeom prst="ellipse">
            <a:avLst/>
          </a:prstGeom>
          <a:solidFill>
            <a:srgbClr val="8FD4CD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77240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未分配池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77240" y="519379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「允许剩余」模式下装不下的件集中放置、可再拖出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325112" y="3931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99432" y="4206240"/>
            <a:ext cx="475488" cy="475488"/>
          </a:xfrm>
          <a:prstGeom prst="ellipse">
            <a:avLst/>
          </a:prstGeom>
          <a:solidFill>
            <a:srgbClr val="8FD4CD"/>
          </a:solidFill>
          <a:ln/>
        </p:spPr>
      </p:sp>
      <p:sp>
        <p:nvSpPr>
          <p:cNvPr id="28" name="Text 26"/>
          <p:cNvSpPr/>
          <p:nvPr/>
        </p:nvSpPr>
        <p:spPr>
          <a:xfrm>
            <a:off x="4599432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4599432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方案历史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599432" y="519379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最多 30 个方案并存，切换 / 重命名 / 对比差值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8147304" y="3931920"/>
            <a:ext cx="35661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21624" y="4206240"/>
            <a:ext cx="475488" cy="475488"/>
          </a:xfrm>
          <a:prstGeom prst="ellipse">
            <a:avLst/>
          </a:prstGeom>
          <a:solidFill>
            <a:srgbClr val="8FD4CD"/>
          </a:solidFill>
          <a:ln/>
        </p:spPr>
      </p:sp>
      <p:sp>
        <p:nvSpPr>
          <p:cNvPr id="33" name="Text 31"/>
          <p:cNvSpPr/>
          <p:nvPr/>
        </p:nvSpPr>
        <p:spPr>
          <a:xfrm>
            <a:off x="8421624" y="42062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8421624" y="480060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一站式导出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8421624" y="5193792"/>
            <a:ext cx="3063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 PDF（含页码）/ Excel 双表 / CSV 明细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KEY NUMBERS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关键数字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86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个自动化测试全绿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5968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0.39s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315968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 件物资均衡耗时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19872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119872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件物资处理上限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502920" y="4965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平台安装包（Win x64 / 麒麟 ARM64）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15968" y="4160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100%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4315968" y="4965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离线运行，数据不出本机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19872" y="41605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5400" dirty="0"/>
          </a:p>
        </p:txBody>
      </p:sp>
      <p:sp>
        <p:nvSpPr>
          <p:cNvPr id="17" name="Text 15"/>
          <p:cNvSpPr/>
          <p:nvPr/>
        </p:nvSpPr>
        <p:spPr>
          <a:xfrm>
            <a:off x="8119872" y="496519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步撤销 / 重做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5989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数据来源：GitHub Actions CI 实测（run #33306811964，2026-08）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57784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功能详解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57784" y="42245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三栏工作台   ·   物资 / 人员管理   ·   三种策略   ·   手动调整   ·   统计与方案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WORKSPACE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主界面：三栏工作台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7863840" cy="4480560"/>
          </a:xfrm>
          <a:prstGeom prst="roundRect">
            <a:avLst>
              <a:gd name="adj" fmla="val 1633"/>
            </a:avLst>
          </a:prstGeom>
          <a:solidFill>
            <a:srgbClr val="F0F6F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37360"/>
            <a:ext cx="74980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847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CEBE9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56232" y="1847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CEBE9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89504" y="1847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CEBE9"/>
          </a:solidFill>
          <a:ln/>
        </p:spPr>
      </p:sp>
      <p:sp>
        <p:nvSpPr>
          <p:cNvPr id="13" name="Text 11"/>
          <p:cNvSpPr/>
          <p:nvPr/>
        </p:nvSpPr>
        <p:spPr>
          <a:xfrm>
            <a:off x="2889504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保存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22776" y="1847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CEBE9"/>
          </a:solidFill>
          <a:ln/>
        </p:spPr>
      </p:sp>
      <p:sp>
        <p:nvSpPr>
          <p:cNvPr id="15" name="Text 13"/>
          <p:cNvSpPr/>
          <p:nvPr/>
        </p:nvSpPr>
        <p:spPr>
          <a:xfrm>
            <a:off x="3922776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56048" y="1847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956048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生成方案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1847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CEBE9"/>
          </a:solidFill>
          <a:ln/>
        </p:spPr>
      </p:sp>
      <p:sp>
        <p:nvSpPr>
          <p:cNvPr id="19" name="Text 17"/>
          <p:cNvSpPr/>
          <p:nvPr/>
        </p:nvSpPr>
        <p:spPr>
          <a:xfrm>
            <a:off x="5989320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022592" y="1847088"/>
            <a:ext cx="914400" cy="292608"/>
          </a:xfrm>
          <a:prstGeom prst="roundRect">
            <a:avLst>
              <a:gd name="adj" fmla="val 50000"/>
            </a:avLst>
          </a:prstGeom>
          <a:solidFill>
            <a:srgbClr val="DCEBE9"/>
          </a:solidFill>
          <a:ln/>
        </p:spPr>
      </p:sp>
      <p:sp>
        <p:nvSpPr>
          <p:cNvPr id="21" name="Text 19"/>
          <p:cNvSpPr/>
          <p:nvPr/>
        </p:nvSpPr>
        <p:spPr>
          <a:xfrm>
            <a:off x="7022592" y="184708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5800" y="2377440"/>
            <a:ext cx="2377440" cy="28803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物资清单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2296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名称 · 单价 · 数量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支持搜索过滤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22960" y="3520440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27" name="Text 25"/>
          <p:cNvSpPr/>
          <p:nvPr/>
        </p:nvSpPr>
        <p:spPr>
          <a:xfrm>
            <a:off x="914400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3922776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9227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" y="4325112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31" name="Text 29"/>
          <p:cNvSpPr/>
          <p:nvPr/>
        </p:nvSpPr>
        <p:spPr>
          <a:xfrm>
            <a:off x="914400" y="43251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22960" y="4727448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47274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227832" y="2377440"/>
            <a:ext cx="2377440" cy="28803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364992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人员列表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64992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 · 参与开关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364992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同名自动拦截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364992" y="3520440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39" name="Text 37"/>
          <p:cNvSpPr/>
          <p:nvPr/>
        </p:nvSpPr>
        <p:spPr>
          <a:xfrm>
            <a:off x="3456432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364992" y="3922776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41" name="Text 39"/>
          <p:cNvSpPr/>
          <p:nvPr/>
        </p:nvSpPr>
        <p:spPr>
          <a:xfrm>
            <a:off x="3456432" y="39227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364992" y="4325112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43" name="Text 41"/>
          <p:cNvSpPr/>
          <p:nvPr/>
        </p:nvSpPr>
        <p:spPr>
          <a:xfrm>
            <a:off x="3456432" y="43251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364992" y="4727448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45" name="Text 43"/>
          <p:cNvSpPr/>
          <p:nvPr/>
        </p:nvSpPr>
        <p:spPr>
          <a:xfrm>
            <a:off x="3456432" y="47274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5769864" y="2377440"/>
            <a:ext cx="2377440" cy="288036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07024" y="248716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分配结果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5907024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人员卡片 + 拖拽</a:t>
            </a:r>
            <a:endParaRPr lang="en-US" sz="1150" dirty="0"/>
          </a:p>
        </p:txBody>
      </p:sp>
      <p:sp>
        <p:nvSpPr>
          <p:cNvPr id="49" name="Text 47"/>
          <p:cNvSpPr/>
          <p:nvPr/>
        </p:nvSpPr>
        <p:spPr>
          <a:xfrm>
            <a:off x="5907024" y="31089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未分配池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5907024" y="3520440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51" name="Text 49"/>
          <p:cNvSpPr/>
          <p:nvPr/>
        </p:nvSpPr>
        <p:spPr>
          <a:xfrm>
            <a:off x="5998464" y="3520440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张三 · 李四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5907024" y="3922776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0F766E"/>
          </a:solidFill>
          <a:ln/>
        </p:spPr>
      </p:sp>
      <p:sp>
        <p:nvSpPr>
          <p:cNvPr id="53" name="Text 51"/>
          <p:cNvSpPr/>
          <p:nvPr/>
        </p:nvSpPr>
        <p:spPr>
          <a:xfrm>
            <a:off x="5998464" y="3922776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张三 · 李四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907024" y="4325112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55" name="Text 53"/>
          <p:cNvSpPr/>
          <p:nvPr/>
        </p:nvSpPr>
        <p:spPr>
          <a:xfrm>
            <a:off x="5998464" y="4325112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907024" y="4727448"/>
            <a:ext cx="2103120" cy="310896"/>
          </a:xfrm>
          <a:prstGeom prst="roundRect">
            <a:avLst>
              <a:gd name="adj" fmla="val 14706"/>
            </a:avLst>
          </a:prstGeom>
          <a:solidFill>
            <a:srgbClr val="F0F6F5"/>
          </a:solidFill>
          <a:ln/>
        </p:spPr>
      </p:sp>
      <p:sp>
        <p:nvSpPr>
          <p:cNvPr id="57" name="Text 55"/>
          <p:cNvSpPr/>
          <p:nvPr/>
        </p:nvSpPr>
        <p:spPr>
          <a:xfrm>
            <a:off x="5998464" y="47274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85800" y="5413248"/>
            <a:ext cx="749808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822960" y="54132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状态栏：文件路径 · 未保存标记 · 件数 · 总价值 · 未分配警告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8686800" y="1673352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8942832" y="1572768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左栏 · 物资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8942832" y="192024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增删改排序、名称搜索，实时显示件数与总价值</a:t>
            </a:r>
            <a:endParaRPr lang="en-US" sz="1250" dirty="0"/>
          </a:p>
        </p:txBody>
      </p:sp>
      <p:sp>
        <p:nvSpPr>
          <p:cNvPr id="63" name="Shape 61"/>
          <p:cNvSpPr/>
          <p:nvPr/>
        </p:nvSpPr>
        <p:spPr>
          <a:xfrm>
            <a:off x="8686800" y="2807208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4" name="Text 62"/>
          <p:cNvSpPr/>
          <p:nvPr/>
        </p:nvSpPr>
        <p:spPr>
          <a:xfrm>
            <a:off x="8942832" y="2706624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中栏 · 人员</a:t>
            </a:r>
            <a:endParaRPr lang="en-US" sz="1500" dirty="0"/>
          </a:p>
        </p:txBody>
      </p:sp>
      <p:sp>
        <p:nvSpPr>
          <p:cNvPr id="65" name="Text 63"/>
          <p:cNvSpPr/>
          <p:nvPr/>
        </p:nvSpPr>
        <p:spPr>
          <a:xfrm>
            <a:off x="8942832" y="30540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添加 / 导入人员，卡片开关可把某人排除出本轮</a:t>
            </a:r>
            <a:endParaRPr lang="en-US" sz="1250" dirty="0"/>
          </a:p>
        </p:txBody>
      </p:sp>
      <p:sp>
        <p:nvSpPr>
          <p:cNvPr id="66" name="Shape 64"/>
          <p:cNvSpPr/>
          <p:nvPr/>
        </p:nvSpPr>
        <p:spPr>
          <a:xfrm>
            <a:off x="8686800" y="3941064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67" name="Text 65"/>
          <p:cNvSpPr/>
          <p:nvPr/>
        </p:nvSpPr>
        <p:spPr>
          <a:xfrm>
            <a:off x="8942832" y="384048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右栏 · 结果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8942832" y="418795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三种策略生成，拖拽微调、锁定物资、方案历史</a:t>
            </a:r>
            <a:endParaRPr lang="en-US" sz="1250" dirty="0"/>
          </a:p>
        </p:txBody>
      </p:sp>
      <p:sp>
        <p:nvSpPr>
          <p:cNvPr id="69" name="Shape 67"/>
          <p:cNvSpPr/>
          <p:nvPr/>
        </p:nvSpPr>
        <p:spPr>
          <a:xfrm>
            <a:off x="8686800" y="5074920"/>
            <a:ext cx="128016" cy="12801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0" name="Text 68"/>
          <p:cNvSpPr/>
          <p:nvPr/>
        </p:nvSpPr>
        <p:spPr>
          <a:xfrm>
            <a:off x="8942832" y="4974336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底部 · 状态</a:t>
            </a:r>
            <a:endParaRPr lang="en-US" sz="1500" dirty="0"/>
          </a:p>
        </p:txBody>
      </p:sp>
      <p:sp>
        <p:nvSpPr>
          <p:cNvPr id="71" name="Text 69"/>
          <p:cNvSpPr/>
          <p:nvPr/>
        </p:nvSpPr>
        <p:spPr>
          <a:xfrm>
            <a:off x="8942832" y="532180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随时看到「分完了没有、差多少」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MATERIALS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物资管理：清单是分配的地基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三种录入方式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74720" y="16733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逐条添加 / CSV · Excel 批量导入 / 模板下载后照填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2920" y="2267712"/>
            <a:ext cx="11183112" cy="0"/>
          </a:xfrm>
          <a:prstGeom prst="line">
            <a:avLst/>
          </a:prstGeom>
          <a:noFill/>
          <a:ln w="12700">
            <a:solidFill>
              <a:srgbClr val="E8EF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487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行内编辑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51460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名称、单价、数量直接在表格里改，无需弹窗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11183112" cy="0"/>
          </a:xfrm>
          <a:prstGeom prst="line">
            <a:avLst/>
          </a:prstGeom>
          <a:noFill/>
          <a:ln w="12700">
            <a:solidFill>
              <a:srgbClr val="E8EF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2841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名称搜索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33558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几百条清单里一秒定位目标物资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3950208"/>
            <a:ext cx="11183112" cy="0"/>
          </a:xfrm>
          <a:prstGeom prst="line">
            <a:avLst/>
          </a:prstGeom>
          <a:noFill/>
          <a:ln w="12700">
            <a:solidFill>
              <a:srgbClr val="E8EF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416966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口径统一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74720" y="4197096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小数数量向下取整、单价两位小数，件数与总价永远对得上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502920" y="4791456"/>
            <a:ext cx="11183112" cy="0"/>
          </a:xfrm>
          <a:prstGeom prst="line">
            <a:avLst/>
          </a:prstGeom>
          <a:noFill/>
          <a:ln w="12700">
            <a:solidFill>
              <a:srgbClr val="E8EF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501091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上限护栏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474720" y="50383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拆分总件数 ≤ 5000，超出提前拦截并说明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导入容错：GBK 编码、有无表头、全角数字、货币符号、名称含逗号——全部自动处理。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PEOPLE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人员管理：小功能里的大讲究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45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43000" y="16276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多途径导入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886200" y="16642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txt / CSV / Excel 名单，每行一个姓名；xlsx 自动取第一列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25054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5054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43000" y="24871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表头自动跳过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86200" y="252374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第一行是「姓名 / Name」不会被当成真人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02920" y="3364992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43000" y="334670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重名拦截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86200" y="338328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手动添加或改名撞车时直接拒绝，避免签字表无法区分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02920" y="422452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4224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43000" y="4206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参与开关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86200" y="4242816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人员卡片上的开关，可把请假者排除出本轮分配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502920" y="508406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5084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143000" y="5065776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导出同步排除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886200" y="510235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被排除者不出现在统计、打印和导出文件里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143000" y="5806440"/>
            <a:ext cx="10515600" cy="566928"/>
          </a:xfrm>
          <a:prstGeom prst="roundRect">
            <a:avLst>
              <a:gd name="adj" fmla="val 14516"/>
            </a:avLst>
          </a:prstGeom>
          <a:solidFill>
            <a:srgbClr val="F0F6F5"/>
          </a:solidFill>
          <a:ln/>
        </p:spPr>
      </p:sp>
      <p:sp>
        <p:nvSpPr>
          <p:cNvPr id="27" name="Text 25"/>
          <p:cNvSpPr/>
          <p:nvPr/>
        </p:nvSpPr>
        <p:spPr>
          <a:xfrm>
            <a:off x="1417320" y="5806440"/>
            <a:ext cx="10058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人员上限 200 人（与 5000 件上限配合，保证算法瞬时完成、界面不卡顿）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STRATEGIES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三种分配策略：把选择权留给你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91640"/>
          <a:ext cx="11183112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4023360"/>
                <a:gridCol w="2468880"/>
                <a:gridCol w="2770632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策略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怎么做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优势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适合场景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贪心均衡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最贵的先分给当前拿得最少的人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瞬间完成，逻辑透明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日常快速分配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贪心 + 优化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贪心后再反复「挪一件 / 换两件」缩小差距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差距最小（推荐）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对公平要求高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随机模式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洗牌 + 贪心 + 优化，抽 24 轮取最优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过程有随机感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D2B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抽奖式发放</a:t>
                      </a:r>
                      <a:endParaRPr lang="en-US" sz="14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7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52578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三种策略结果都完全确定：相同清单 + 相同设置 = 相同方案（随机模式可用固定种子复现）。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02920" y="5715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配合设置中的「允许剩余」开关，还能切换为「每人不超过人均价值、剩余入池」的装填模式。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ALGORITHM 1/3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贪心 LPT：最贵的先给拿得最少的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物资按单价降序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68680" y="210312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031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单价 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68680" y="267004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4A89C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670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单价 5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68680" y="3236976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4A89C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32369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单价 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3803904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4A89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8039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单价 3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8680" y="4370832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4A89C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708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单价 2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68680" y="4937760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14A89C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937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单价 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606040" y="3657600"/>
            <a:ext cx="118872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97764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依次分给「当前总价值最低」的人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977640" y="2148840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24528" y="2240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张三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224528" y="258775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累计 7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897880" y="2350008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8FD4CD"/>
          </a:solidFill>
          <a:ln/>
        </p:spPr>
      </p:sp>
      <p:sp>
        <p:nvSpPr>
          <p:cNvPr id="25" name="Text 23"/>
          <p:cNvSpPr/>
          <p:nvPr/>
        </p:nvSpPr>
        <p:spPr>
          <a:xfrm>
            <a:off x="5897880" y="235000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6+1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977640" y="3200400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224528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李四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224528" y="363931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累计 7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3401568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8FD4CD"/>
          </a:solidFill>
          <a:ln/>
        </p:spPr>
      </p:sp>
      <p:sp>
        <p:nvSpPr>
          <p:cNvPr id="30" name="Text 28"/>
          <p:cNvSpPr/>
          <p:nvPr/>
        </p:nvSpPr>
        <p:spPr>
          <a:xfrm>
            <a:off x="5897880" y="340156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6+1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977640" y="4251960"/>
            <a:ext cx="3108960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224528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王五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224528" y="4690872"/>
            <a:ext cx="1463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累计 7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4453128"/>
            <a:ext cx="914400" cy="402336"/>
          </a:xfrm>
          <a:prstGeom prst="roundRect">
            <a:avLst>
              <a:gd name="adj" fmla="val 15909"/>
            </a:avLst>
          </a:prstGeom>
          <a:solidFill>
            <a:srgbClr val="8FD4CD"/>
          </a:solidFill>
          <a:ln/>
        </p:spPr>
      </p:sp>
      <p:sp>
        <p:nvSpPr>
          <p:cNvPr id="35" name="Text 33"/>
          <p:cNvSpPr/>
          <p:nvPr/>
        </p:nvSpPr>
        <p:spPr>
          <a:xfrm>
            <a:off x="5897880" y="4453128"/>
            <a:ext cx="914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6+1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8229600" y="2148840"/>
            <a:ext cx="3429000" cy="2971800"/>
          </a:xfrm>
          <a:prstGeom prst="roundRect">
            <a:avLst>
              <a:gd name="adj" fmla="val 2769"/>
            </a:avLst>
          </a:prstGeom>
          <a:solidFill>
            <a:srgbClr val="F0F6F5"/>
          </a:solidFill>
          <a:ln/>
        </p:spPr>
      </p:sp>
      <p:sp>
        <p:nvSpPr>
          <p:cNvPr id="37" name="Text 35"/>
          <p:cNvSpPr/>
          <p:nvPr/>
        </p:nvSpPr>
        <p:spPr>
          <a:xfrm>
            <a:off x="8503920" y="23317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结果示例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503920" y="2743200"/>
            <a:ext cx="3017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总价 21 → 人均 7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三人拿到恰好 7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并列时取列表靠前者</a:t>
            </a:r>
            <a:endParaRPr lang="en-US" sz="13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耗时 O(n log n)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02920" y="580644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贪心快而准，但遇到「3+3+2+2+2 分两人」这类组合，可能留下 7 vs 5 的差距 —— 这就需要下一步优化。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ALGORITHM 2/3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局部搜索：挪一件、换两件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操作一：单件移动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" y="210312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张三 · 10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651760"/>
            <a:ext cx="868680" cy="731520"/>
          </a:xfrm>
          <a:prstGeom prst="roundRect">
            <a:avLst>
              <a:gd name="adj" fmla="val 8750"/>
            </a:avLst>
          </a:prstGeom>
          <a:solidFill>
            <a:srgbClr val="DCEBE9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651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1645920" y="2651760"/>
            <a:ext cx="868680" cy="731520"/>
          </a:xfrm>
          <a:prstGeom prst="roundRect">
            <a:avLst>
              <a:gd name="adj" fmla="val 8750"/>
            </a:avLst>
          </a:prstGeom>
          <a:solidFill>
            <a:srgbClr val="DCEBE9"/>
          </a:solidFill>
          <a:ln/>
        </p:spPr>
      </p:sp>
      <p:sp>
        <p:nvSpPr>
          <p:cNvPr id="12" name="Text 10"/>
          <p:cNvSpPr/>
          <p:nvPr/>
        </p:nvSpPr>
        <p:spPr>
          <a:xfrm>
            <a:off x="1645920" y="2651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" y="397764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李四 · 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4526280"/>
            <a:ext cx="868680" cy="731520"/>
          </a:xfrm>
          <a:prstGeom prst="roundRect">
            <a:avLst>
              <a:gd name="adj" fmla="val 8750"/>
            </a:avLst>
          </a:prstGeom>
          <a:solidFill>
            <a:srgbClr val="DCEBE9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5262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645920" y="4526280"/>
            <a:ext cx="868680" cy="731520"/>
          </a:xfrm>
          <a:prstGeom prst="roundRect">
            <a:avLst>
              <a:gd name="adj" fmla="val 8750"/>
            </a:avLst>
          </a:prstGeom>
          <a:solidFill>
            <a:srgbClr val="DCEBE9"/>
          </a:solidFill>
          <a:ln/>
        </p:spPr>
      </p:sp>
      <p:sp>
        <p:nvSpPr>
          <p:cNvPr id="18" name="Text 16"/>
          <p:cNvSpPr/>
          <p:nvPr/>
        </p:nvSpPr>
        <p:spPr>
          <a:xfrm>
            <a:off x="1645920" y="45262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2971800" y="2880360"/>
            <a:ext cx="960120" cy="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2880360" y="301752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把一件从「高者」挪给「低者」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66344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操作二：跨人交换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4663440" y="210312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0" y="22128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张三 · 10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846320" y="2651760"/>
            <a:ext cx="868680" cy="731520"/>
          </a:xfrm>
          <a:prstGeom prst="roundRect">
            <a:avLst>
              <a:gd name="adj" fmla="val 8750"/>
            </a:avLst>
          </a:prstGeom>
          <a:solidFill>
            <a:srgbClr val="DCEBE9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2651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5806440" y="2651760"/>
            <a:ext cx="868680" cy="731520"/>
          </a:xfrm>
          <a:prstGeom prst="roundRect">
            <a:avLst>
              <a:gd name="adj" fmla="val 8750"/>
            </a:avLst>
          </a:prstGeom>
          <a:solidFill>
            <a:srgbClr val="DCEBE9"/>
          </a:solidFill>
          <a:ln/>
        </p:spPr>
      </p:sp>
      <p:sp>
        <p:nvSpPr>
          <p:cNvPr id="27" name="Text 25"/>
          <p:cNvSpPr/>
          <p:nvPr/>
        </p:nvSpPr>
        <p:spPr>
          <a:xfrm>
            <a:off x="5806440" y="265176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3977640"/>
            <a:ext cx="2286000" cy="1554480"/>
          </a:xfrm>
          <a:prstGeom prst="roundRect">
            <a:avLst>
              <a:gd name="adj" fmla="val 5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846320" y="408736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李四 · 5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846320" y="4526280"/>
            <a:ext cx="868680" cy="731520"/>
          </a:xfrm>
          <a:prstGeom prst="roundRect">
            <a:avLst>
              <a:gd name="adj" fmla="val 8750"/>
            </a:avLst>
          </a:prstGeom>
          <a:solidFill>
            <a:srgbClr val="DCEBE9"/>
          </a:solidFill>
          <a:ln/>
        </p:spPr>
      </p:sp>
      <p:sp>
        <p:nvSpPr>
          <p:cNvPr id="31" name="Text 29"/>
          <p:cNvSpPr/>
          <p:nvPr/>
        </p:nvSpPr>
        <p:spPr>
          <a:xfrm>
            <a:off x="4846320" y="45262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806440" y="4526280"/>
            <a:ext cx="868680" cy="731520"/>
          </a:xfrm>
          <a:prstGeom prst="roundRect">
            <a:avLst>
              <a:gd name="adj" fmla="val 8750"/>
            </a:avLst>
          </a:prstGeom>
          <a:solidFill>
            <a:srgbClr val="DCEBE9"/>
          </a:solidFill>
          <a:ln/>
        </p:spPr>
      </p:sp>
      <p:sp>
        <p:nvSpPr>
          <p:cNvPr id="33" name="Text 31"/>
          <p:cNvSpPr/>
          <p:nvPr/>
        </p:nvSpPr>
        <p:spPr>
          <a:xfrm>
            <a:off x="5806440" y="4526280"/>
            <a:ext cx="868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035040" y="2761488"/>
            <a:ext cx="868680" cy="1847088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903720" y="2880360"/>
            <a:ext cx="-868680" cy="1554480"/>
          </a:xfrm>
          <a:prstGeom prst="line">
            <a:avLst/>
          </a:prstGeom>
          <a:noFill/>
          <a:ln w="2794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4572000" y="57150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大小件互换，差距立即缩小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863840" y="1691640"/>
            <a:ext cx="3794760" cy="4297680"/>
          </a:xfrm>
          <a:prstGeom prst="roundRect">
            <a:avLst>
              <a:gd name="adj" fmla="val 2169"/>
            </a:avLst>
          </a:prstGeom>
          <a:solidFill>
            <a:srgbClr val="F0F6F5"/>
          </a:solidFill>
          <a:ln/>
        </p:spPr>
      </p:sp>
      <p:sp>
        <p:nvSpPr>
          <p:cNvPr id="38" name="Text 36"/>
          <p:cNvSpPr/>
          <p:nvPr/>
        </p:nvSpPr>
        <p:spPr>
          <a:xfrm>
            <a:off x="813816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138160" y="2331720"/>
            <a:ext cx="3291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枚举全部移动 / 交换候选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只执行「改进最大」的那一个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无法再改进即停止</a:t>
            </a:r>
            <a:endParaRPr lang="en-US" sz="1350" dirty="0"/>
          </a:p>
          <a:p>
            <a:pPr marL="152400" indent="-152400"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最多 100 轮 · 200 万次评估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8138160" y="5029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实测：3+3+2+2+2 两人 → 贪心 7:5，优化后 6:6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ALGORITHM 3/3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随机模式：抽奖的仪式感，均衡的底线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920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1. 打乱顺序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935224" y="2395728"/>
            <a:ext cx="393192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92024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920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2. 贪心装填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815584" y="2395728"/>
            <a:ext cx="393192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63640" y="192024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920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3. 局部优化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695944" y="2395728"/>
            <a:ext cx="393192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1920240"/>
            <a:ext cx="2377440" cy="960120"/>
          </a:xfrm>
          <a:prstGeom prst="roundRect">
            <a:avLst>
              <a:gd name="adj" fmla="val 8571"/>
            </a:avLst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1920240"/>
            <a:ext cx="2377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4. 留下更优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0" y="31546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×24 轮重启，每轮换一种洗牌结果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为什么随机？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749040" y="38221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分配结果不再是「算出来的唯一解」，抽奖过程本身有仪式感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00200" y="45994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公平不放松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3749040" y="462686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每一轮都做局部优化，最终取差值最小的一次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00200" y="54041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可复现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749040" y="5431536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设置里填固定随机种子，两次生成结果完全一致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SURPLUS MODE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允许剩余：装不下的，先放池子里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21945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>
            <a:off x="1005840" y="2313432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DCEBE9"/>
          </a:solidFill>
          <a:ln/>
        </p:spPr>
      </p:sp>
      <p:sp>
        <p:nvSpPr>
          <p:cNvPr id="8" name="Shape 6"/>
          <p:cNvSpPr/>
          <p:nvPr/>
        </p:nvSpPr>
        <p:spPr>
          <a:xfrm>
            <a:off x="1170432" y="2468880"/>
            <a:ext cx="1591056" cy="685800"/>
          </a:xfrm>
          <a:prstGeom prst="roundRect">
            <a:avLst>
              <a:gd name="adj" fmla="val 9333"/>
            </a:avLst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170432" y="246888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元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张三 · 已装 ≤ 人均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520440" y="2148840"/>
            <a:ext cx="219456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3657600" y="2313432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DCEBE9"/>
          </a:solidFill>
          <a:ln/>
        </p:spPr>
      </p:sp>
      <p:sp>
        <p:nvSpPr>
          <p:cNvPr id="13" name="Shape 11"/>
          <p:cNvSpPr/>
          <p:nvPr/>
        </p:nvSpPr>
        <p:spPr>
          <a:xfrm>
            <a:off x="3822192" y="2468880"/>
            <a:ext cx="1591056" cy="685800"/>
          </a:xfrm>
          <a:prstGeom prst="roundRect">
            <a:avLst>
              <a:gd name="adj" fmla="val 9333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3822192" y="246888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元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32918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李四 · 已装 ≤ 人均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17556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人均价值 = 上限（虚线）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806440" y="3108960"/>
            <a:ext cx="777240" cy="0"/>
          </a:xfrm>
          <a:prstGeom prst="line">
            <a:avLst/>
          </a:prstGeom>
          <a:noFill/>
          <a:ln w="27940">
            <a:solidFill>
              <a:srgbClr val="B45309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766560" y="1828800"/>
            <a:ext cx="4846320" cy="2606040"/>
          </a:xfrm>
          <a:prstGeom prst="roundRect">
            <a:avLst>
              <a:gd name="adj" fmla="val 3158"/>
            </a:avLst>
          </a:prstGeom>
          <a:solidFill>
            <a:srgbClr val="FBF3E4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059168" y="2029968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未分配池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7059168" y="24871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90 元的大件谁拿都超限 → 留在池里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059168" y="29443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池里的件可拖给任何人（自行取舍）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7059168" y="34015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已分配的件也可拖回池中取消分配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059168" y="385876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状态栏与统计实时显示「未分配 N 件」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4892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适用：奖品价值悬殊（如一等奖 + 纪念奖）、或想把部分物资留作机动时。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5440680"/>
            <a:ext cx="11183112" cy="685800"/>
          </a:xfrm>
          <a:prstGeom prst="roundRect">
            <a:avLst>
              <a:gd name="adj" fmla="val 12000"/>
            </a:avLst>
          </a:prstGeom>
          <a:solidFill>
            <a:srgbClr val="F0F6F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开启方式：设置 → 分配与打印偏好 → 「允许剩余」开关。该模式使用带人均上限的贪心装填，方案策略如实记录为贪心。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MANUAL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手动调整：算法给底线，人来拍板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64208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拖拽即分配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77240" y="2194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把物资标签从 A 卡片拖到 B 卡片，统计瞬间重算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0" y="1664208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17922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拖出即取消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拖到「未分配池」表示这件先不发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054096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7724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参与开关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77240" y="3584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某人临时请假？关掉开关后重新生成即可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3054096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9224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锁定物资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92240" y="358444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点击物资标签加锁：这件必须给某人（如奖品归属已定）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920" y="4443984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772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重新优化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77240" y="4974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在当前方案上继续优化，锁定的件纹丝不动，不新建方案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17920" y="4443984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45720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一键解锁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92240" y="497433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全部解锁回到「完全自动」状态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" y="59436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手动调整后方案策略自动标记为「手动调整」，与自动生成的方案明确区分。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HISTORY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方案历史：每次生成都可回溯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760720" cy="786384"/>
          </a:xfrm>
          <a:prstGeom prst="roundRect">
            <a:avLst>
              <a:gd name="adj" fmla="val 10465"/>
            </a:avLst>
          </a:prstGeom>
          <a:solidFill>
            <a:srgbClr val="DCEBE9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方案4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011680" y="18196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贪心 + 优化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931920" y="1819656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差值 ¥2.10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394960" y="181965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当前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02920" y="2660904"/>
            <a:ext cx="57607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7240" y="275234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011680" y="2788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随机模式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931920" y="2788920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差值 ¥2.35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3630168"/>
            <a:ext cx="5760720" cy="786384"/>
          </a:xfrm>
          <a:prstGeom prst="roundRect">
            <a:avLst>
              <a:gd name="adj" fmla="val 104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77240" y="372160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011680" y="37581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贪心均衡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31920" y="3758184"/>
            <a:ext cx="1737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差值 ¥3.80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4709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（示意数据）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20840" y="1691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最多 30 个并存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20756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上限自动淘汰最旧方案，撤销历史独立管理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720840" y="277063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编号不重复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720840" y="315468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删除「方案2」后再生成是「方案4」，永不重名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20840" y="38496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随时切换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20840" y="423367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一键设为当前方案；重命名自由定制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720840" y="492861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逐方案对比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720840" y="5312664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列表直接显示每个方案的最大差值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STATISTICS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六个数字，看清「分得平不平」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9224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平均价值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9224" y="248716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人均应得多少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88920" y="17373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935224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最高 / 最低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935224" y="248716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拿最多和最少的人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4920" y="17373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221224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最大差值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21224" y="248716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高减低——均衡的核心指标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60920" y="17373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507224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标准差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7507224" y="248716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整体偏离平均的程度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46920" y="1737360"/>
            <a:ext cx="2084832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793224" y="1920240"/>
            <a:ext cx="17922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未分配件数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793224" y="2487168"/>
            <a:ext cx="1792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还有多少件没着落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02920" y="3703320"/>
            <a:ext cx="11183112" cy="1234440"/>
          </a:xfrm>
          <a:prstGeom prst="roundRect">
            <a:avLst>
              <a:gd name="adj" fmla="val 6667"/>
            </a:avLst>
          </a:prstGeom>
          <a:solidFill>
            <a:srgbClr val="F0F6F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0332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10% 预警线：</a:t>
            </a:r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最大差值超过平均价值的 10% 时，界面持续提醒。因为此时大概率存在「单件价值就超过人均」的物资，物理上无法更均衡——建议手动调整或开启允许剩余。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02920" y="5257800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统计口径与算法、打印、导出完全一致：指向已删除人员或未进入方案的件，一律计入「未分配」，绝不静默漏算。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STALE DETECTION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物资变了？方案会自己「报警」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04088" y="19202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数量调大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04088" y="237744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新增的件不在任何方案里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04088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提示「N 件未分配」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3364992" y="173736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66160" y="19202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数量调小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3566160" y="237744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方案还引用着已不存在的件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566160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提示方案失效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27064" y="173736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28232" y="19202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删了人员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6428232" y="237744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有人名下的件没了着落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428232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提示方案失效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089136" y="1737360"/>
            <a:ext cx="26517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290304" y="1920240"/>
            <a:ext cx="2240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清空方案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290304" y="237744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导出一张全空的表格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290304" y="32461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导出前二次确认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4434840"/>
            <a:ext cx="11183112" cy="1371600"/>
          </a:xfrm>
          <a:prstGeom prst="roundRect">
            <a:avLst>
              <a:gd name="adj" fmla="val 6000"/>
            </a:avLst>
          </a:prstGeom>
          <a:solidFill>
            <a:srgbClr val="F0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43484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设计原则：不阻止你，但一定告诉你。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所有提示都允许「仍要导出」，尊重现场指挥者的临场决定；但绝不静默漏算——打印表上的每一行都对得上账。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C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57784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导入导出与打印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57784" y="42245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格式容错   ·   数据安检   ·   Excel / CSV / PDF   ·   A4 打印模板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IMPORT 1/2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导入物资：脏活累活全自动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68112" cy="1152144"/>
          </a:xfrm>
          <a:prstGeom prst="roundRect">
            <a:avLst>
              <a:gd name="adj" fmla="val 7143"/>
            </a:avLst>
          </a:prstGeom>
          <a:solidFill>
            <a:srgbClr val="F0F6F5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10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GBK 编码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2037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中文版 Excel 导出的默认编码直接可读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68112" cy="1152144"/>
          </a:xfrm>
          <a:prstGeom prst="roundRect">
            <a:avLst>
              <a:gd name="adj" fmla="val 7143"/>
            </a:avLst>
          </a:prstGeom>
          <a:solidFill>
            <a:srgbClr val="F0F6F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8105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有无表头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2037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「名称，单价，数量」表头自动识别；无表头按列序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5468112" cy="1152144"/>
          </a:xfrm>
          <a:prstGeom prst="roundRect">
            <a:avLst>
              <a:gd name="adj" fmla="val 7143"/>
            </a:avLst>
          </a:prstGeom>
          <a:solidFill>
            <a:srgbClr val="F0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全角数字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１２３、１２.５ 中文输入法数字照常解析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217920" y="3063240"/>
            <a:ext cx="5468112" cy="1152144"/>
          </a:xfrm>
          <a:prstGeom prst="roundRect">
            <a:avLst>
              <a:gd name="adj" fmla="val 7143"/>
            </a:avLst>
          </a:prstGeom>
          <a:solidFill>
            <a:srgbClr val="F0F6F5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31821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列名容错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92240" y="35753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单价 / 价格 / 金额 优先级识别，金额（总额）不会被误当单价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434840"/>
            <a:ext cx="5468112" cy="1152144"/>
          </a:xfrm>
          <a:prstGeom prst="roundRect">
            <a:avLst>
              <a:gd name="adj" fmla="val 7143"/>
            </a:avLst>
          </a:prstGeom>
          <a:solidFill>
            <a:srgbClr val="F0F6F5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553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货币符号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77240" y="49469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¥5、$3.5、1,000 千分位统统剥掉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217920" y="4434840"/>
            <a:ext cx="5468112" cy="1152144"/>
          </a:xfrm>
          <a:prstGeom prst="roundRect">
            <a:avLst>
              <a:gd name="adj" fmla="val 7143"/>
            </a:avLst>
          </a:prstGeom>
          <a:solidFill>
            <a:srgbClr val="F0F6F5"/>
          </a:solidFill>
          <a:ln/>
        </p:spPr>
      </p:sp>
      <p:sp>
        <p:nvSpPr>
          <p:cNvPr id="22" name="Text 20"/>
          <p:cNvSpPr/>
          <p:nvPr/>
        </p:nvSpPr>
        <p:spPr>
          <a:xfrm>
            <a:off x="6492240" y="455371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坏行不丢人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92240" y="494690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解析不了的行计入「跳过 N 行」明确告知，绝不静默消失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 .csv / .xlsx / .xls；xlsx 按文件魔数（PK）识别，改了扩展名也不会走错解析器。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IMPORT 2/2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导入人员：一行一个名字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支持格式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8720" y="210312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F0F6F5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2128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txt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280160" y="2615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每行一个姓名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91840" y="210312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F0F6F5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22128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CSV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3383280" y="2615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取第一列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94960" y="2103120"/>
            <a:ext cx="1874520" cy="1051560"/>
          </a:xfrm>
          <a:prstGeom prst="roundRect">
            <a:avLst>
              <a:gd name="adj" fmla="val 7826"/>
            </a:avLst>
          </a:prstGeom>
          <a:solidFill>
            <a:srgbClr val="F0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5394960" y="2212848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Excel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第一列，自动跳过表头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3794760"/>
            <a:ext cx="1033272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502920" y="3977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自动处理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14400" y="443484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去空行、去首尾空白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重复姓名自动忽略（重复导入同一份名单也安全）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「姓名 / Name / 人员」等表头行不会变成真人</a:t>
            </a:r>
            <a:endParaRPr lang="en-US" sz="1450" dirty="0"/>
          </a:p>
          <a:p>
            <a:pPr marL="152400" indent="-1524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导入结果与现有名单合并去重</a:t>
            </a:r>
            <a:endParaRPr lang="en-US" sz="14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VALIDATION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打开任何文件前，先过一遍安检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45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项目文件（.mproj）载入时的逐条检查：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11155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物资：id 非空、名称非空、单价为正数、数量取整 ≥ 1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人员：id 与姓名有效；「参与开关」状态恢复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方案：assignment 逐条校验——指向不存在人员 / 已不存在物资件的引用直接剔除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悬空字段：标题缺失补默认值；激活方案不存在则置空</a:t>
            </a:r>
            <a:endParaRPr lang="en-US" sz="1500" dirty="0"/>
          </a:p>
          <a:p>
            <a:pPr marL="152400" indent="-152400">
              <a:spcAft>
                <a:spcPts val="1300"/>
              </a:spcAft>
              <a:buSzPct val="100000"/>
              <a:buChar char="•"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旧版本 / 手工编辑 / 草稿恢复：同一套安检，坏数据剔除而不是崩溃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5120640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F0F6F5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512064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为什么这么执着？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项目文件是 JSON，任何人都能手工编辑。安检保证：无论文件从哪来（邮件 / U 盘 / 三年前的旧版本），打开后行为一致、绝不崩溃。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EXPORT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一次分配，三种出口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FBF3E4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901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 PDF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77240" y="24231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printToPDF 原生渲染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内置思源黑体，跨平台一致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页脚页码可选「第 X 页 / 共 Y 页」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直接发送存档 / 打印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25112" y="169164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99432" y="1901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Excel 双表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99432" y="24231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「分配明细」逐人逐件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「按人汇总」件数 + 总价值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打开即可二次加工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适合财务对账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47304" y="1691640"/>
            <a:ext cx="3566160" cy="36576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421624" y="1901952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CSV 明细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421624" y="242316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UTF-8 BOM，Excel 直开不乱码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同一物资合并为数量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防公式注入（= 开头转义）</a:t>
            </a:r>
            <a:endParaRPr lang="en-US" sz="1250" dirty="0"/>
          </a:p>
          <a:p>
            <a:pPr marL="152400" indent="-1524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通用性最强的交换格式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02920" y="56692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全部走「先选路径再写盘 + 原子写入」：写到一半断电，原文件不损坏。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PRINT 1/2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 签字表格：为「签字」这一刻设计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6858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序号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1737360"/>
            <a:ext cx="105156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1737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姓名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240280" y="1737360"/>
            <a:ext cx="301752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40280" y="1737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物资名称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257800" y="1737360"/>
            <a:ext cx="105156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7373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单价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0" y="1737360"/>
            <a:ext cx="86868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0" y="17373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数量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178040" y="1737360"/>
            <a:ext cx="118872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78040" y="17373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小计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66760" y="1737360"/>
            <a:ext cx="13716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66760" y="17373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总价值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738360" y="1737360"/>
            <a:ext cx="194767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38360" y="1737360"/>
            <a:ext cx="1947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签字栏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" y="2194560"/>
            <a:ext cx="6858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2194560"/>
            <a:ext cx="685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1188720" y="2194560"/>
            <a:ext cx="10515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88720" y="2194560"/>
            <a:ext cx="1051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张三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40280" y="219456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2402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笔记本 ×2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257800" y="2194560"/>
            <a:ext cx="1051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57800" y="21945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¥5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09360" y="2194560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09360" y="21945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178040" y="219456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21945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¥10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240280" y="2651760"/>
            <a:ext cx="30175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40280" y="2651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钢笔 ×1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257800" y="2651760"/>
            <a:ext cx="1051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57800" y="265176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¥3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309360" y="2651760"/>
            <a:ext cx="868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9360" y="265176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7178040" y="2651760"/>
            <a:ext cx="118872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78040" y="265176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¥3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8366760" y="2194560"/>
            <a:ext cx="1371600" cy="914400"/>
          </a:xfrm>
          <a:prstGeom prst="rect">
            <a:avLst/>
          </a:prstGeom>
          <a:solidFill>
            <a:srgbClr val="F0F6F5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366760" y="219456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¥13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9738360" y="2194560"/>
            <a:ext cx="1947672" cy="914400"/>
          </a:xfrm>
          <a:prstGeom prst="rect">
            <a:avLst/>
          </a:prstGeom>
          <a:solidFill>
            <a:srgbClr val="F0F6F5"/>
          </a:solidFill>
          <a:ln w="12700">
            <a:solidFill>
              <a:srgbClr val="B9C6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738360" y="2194560"/>
            <a:ext cx="19476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（签名区）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502920" y="342900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页脚：发放人签字 ____   监发人签字 ____   日期 ____ 年 __ 月 __ 日</a:t>
            </a:r>
            <a:endParaRPr lang="en-US" sz="1350" dirty="0"/>
          </a:p>
        </p:txBody>
      </p:sp>
      <p:sp>
        <p:nvSpPr>
          <p:cNvPr id="47" name="Text 45"/>
          <p:cNvSpPr/>
          <p:nvPr/>
        </p:nvSpPr>
        <p:spPr>
          <a:xfrm>
            <a:off x="502920" y="40690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同人多件自动合并</a:t>
            </a:r>
            <a:endParaRPr lang="en-US" sz="1450" dirty="0"/>
          </a:p>
        </p:txBody>
      </p:sp>
      <p:sp>
        <p:nvSpPr>
          <p:cNvPr id="48" name="Text 46"/>
          <p:cNvSpPr/>
          <p:nvPr/>
        </p:nvSpPr>
        <p:spPr>
          <a:xfrm>
            <a:off x="3566160" y="409651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「笔记本 ×2」占一行，数量、小计自动算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502920" y="47823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一人一块</a:t>
            </a:r>
            <a:endParaRPr lang="en-US" sz="1450" dirty="0"/>
          </a:p>
        </p:txBody>
      </p:sp>
      <p:sp>
        <p:nvSpPr>
          <p:cNvPr id="50" name="Text 48"/>
          <p:cNvSpPr/>
          <p:nvPr/>
        </p:nvSpPr>
        <p:spPr>
          <a:xfrm>
            <a:off x="3566160" y="480974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序号 / 姓名 / 总价值 / 签字栏纵向合并，签字归属一目了然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02920" y="5495544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标题与备注</a:t>
            </a:r>
            <a:endParaRPr lang="en-US" sz="1450" dirty="0"/>
          </a:p>
        </p:txBody>
      </p:sp>
      <p:sp>
        <p:nvSpPr>
          <p:cNvPr id="52" name="Text 50"/>
          <p:cNvSpPr/>
          <p:nvPr/>
        </p:nvSpPr>
        <p:spPr>
          <a:xfrm>
            <a:off x="3566160" y="552297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「年会物资领取表」等自定义标题 + 备注显示在表头下方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PRINT 2/2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跨页不断链：50 人也能放心打印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9050">
            <a:solidFill>
              <a:srgbClr val="C9D6D4"/>
            </a:solidFill>
            <a:prstDash val="solid"/>
          </a:ln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 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565392" y="1737360"/>
            <a:ext cx="5120640" cy="3931920"/>
          </a:xfrm>
          <a:prstGeom prst="roundRect">
            <a:avLst>
              <a:gd name="adj" fmla="val 1395"/>
            </a:avLst>
          </a:prstGeom>
          <a:solidFill>
            <a:srgbClr val="FFFFFF"/>
          </a:solidFill>
          <a:ln w="19050">
            <a:solidFill>
              <a:srgbClr val="C9D6D4"/>
            </a:solidFill>
            <a:prstDash val="solid"/>
          </a:ln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748272" y="182880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2 页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4572000" cy="1371600"/>
          </a:xfrm>
          <a:prstGeom prst="rect">
            <a:avLst/>
          </a:prstGeom>
          <a:solidFill>
            <a:srgbClr val="DCEBE9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33172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张三的 3 件（小块）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2697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整块禁止跨页：姓名、总价值、签字栏绝不身首异处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" y="3794760"/>
            <a:ext cx="4572000" cy="1737360"/>
          </a:xfrm>
          <a:prstGeom prst="rect">
            <a:avLst/>
          </a:prstGeom>
          <a:solidFill>
            <a:srgbClr val="F0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8620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王五的 15 件（大块）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251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块太大允许分页……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39712" y="2240280"/>
            <a:ext cx="4572000" cy="5029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6967728" y="22402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表头自动重复（序号/姓名/…/签字栏）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839712" y="3493008"/>
            <a:ext cx="4572000" cy="457200"/>
          </a:xfrm>
          <a:prstGeom prst="rect">
            <a:avLst/>
          </a:prstGeom>
          <a:solidFill>
            <a:srgbClr val="F0F6F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49440" y="3493008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1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863840" y="349300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续页第 1 件 · 姓名淡色重复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39712" y="4059936"/>
            <a:ext cx="4572000" cy="457200"/>
          </a:xfrm>
          <a:prstGeom prst="rect">
            <a:avLst/>
          </a:prstGeom>
          <a:solidFill>
            <a:srgbClr val="F0F6F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4059936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1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王五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863840" y="4059936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续页第 2 件 · 姓名淡色重复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39712" y="4626864"/>
            <a:ext cx="4572000" cy="457200"/>
          </a:xfrm>
          <a:prstGeom prst="rect">
            <a:avLst/>
          </a:prstGeom>
          <a:solidFill>
            <a:srgbClr val="F0F6F5"/>
          </a:solidFill>
          <a:ln w="12700">
            <a:solidFill>
              <a:srgbClr val="DCE7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0" y="4626864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A19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王五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863840" y="4626864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续页第 3 件 · 姓名淡色重复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小块（≤14 行）整块不跨页；大块续页每行重复姓名（淡色），页脚自动加页码。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C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57784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57784" y="42245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三进程模型   ·   数据流动   ·   确定性设计   ·   安全与可靠性   ·   质量与 CI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STACK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技术栈：全部开源、全部本地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68112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37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跨平台桌面壳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303520" y="18379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5303520" y="18379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17920" y="1691640"/>
            <a:ext cx="5468112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Pinia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778240" y="178308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界面与状态管理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11018520" y="183794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11018520" y="18379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2788920"/>
            <a:ext cx="5468112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TypeScript 5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063240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全量类型检查（tsc + vue-tsc）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303520" y="293522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5303520" y="2935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17920" y="2788920"/>
            <a:ext cx="5468112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92240" y="28803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Element Plus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778240" y="288036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中文界面组件库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11018520" y="293522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11018520" y="293522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3886200"/>
            <a:ext cx="5468112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724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SheetJS (xlsx)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3063240" y="3977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Excel 读写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5303520" y="403250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8FD4CD"/>
          </a:solidFill>
          <a:ln/>
        </p:spPr>
      </p:sp>
      <p:sp>
        <p:nvSpPr>
          <p:cNvPr id="30" name="Text 28"/>
          <p:cNvSpPr/>
          <p:nvPr/>
        </p:nvSpPr>
        <p:spPr>
          <a:xfrm>
            <a:off x="5303520" y="40325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217920" y="3886200"/>
            <a:ext cx="5468112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9224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PapaParse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8778240" y="39776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CSV 解析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11018520" y="403250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8FD4CD"/>
          </a:solidFill>
          <a:ln/>
        </p:spPr>
      </p:sp>
      <p:sp>
        <p:nvSpPr>
          <p:cNvPr id="35" name="Text 33"/>
          <p:cNvSpPr/>
          <p:nvPr/>
        </p:nvSpPr>
        <p:spPr>
          <a:xfrm>
            <a:off x="11018520" y="403250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02920" y="4983480"/>
            <a:ext cx="5468112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7724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iconv-lite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3063240" y="5074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GBK 等编码识别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5303520" y="512978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8FD4CD"/>
          </a:solidFill>
          <a:ln/>
        </p:spPr>
      </p:sp>
      <p:sp>
        <p:nvSpPr>
          <p:cNvPr id="40" name="Text 38"/>
          <p:cNvSpPr/>
          <p:nvPr/>
        </p:nvSpPr>
        <p:spPr>
          <a:xfrm>
            <a:off x="5303520" y="51297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17920" y="4983480"/>
            <a:ext cx="5468112" cy="877824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492240" y="5074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Vitest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8778240" y="507492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86 个自动化测试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11018520" y="5129784"/>
            <a:ext cx="457200" cy="292608"/>
          </a:xfrm>
          <a:prstGeom prst="roundRect">
            <a:avLst>
              <a:gd name="adj" fmla="val 50000"/>
            </a:avLst>
          </a:prstGeom>
          <a:solidFill>
            <a:srgbClr val="8FD4CD"/>
          </a:solidFill>
          <a:ln/>
        </p:spPr>
      </p:sp>
      <p:sp>
        <p:nvSpPr>
          <p:cNvPr id="45" name="Text 43"/>
          <p:cNvSpPr/>
          <p:nvPr/>
        </p:nvSpPr>
        <p:spPr>
          <a:xfrm>
            <a:off x="11018520" y="512978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辅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无数据库、无服务端、无网络请求——删掉安装目录即彻底卸载。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三进程模型：能力与安全各就各位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402336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0116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渲染进程（界面）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77240" y="2514600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F0F6F5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514600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Pinia 仓库（唯一数据源）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319272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F0F6F5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19272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分配算法（纯函数）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123944"/>
            <a:ext cx="3474720" cy="658368"/>
          </a:xfrm>
          <a:prstGeom prst="roundRect">
            <a:avLst>
              <a:gd name="adj" fmla="val 12500"/>
            </a:avLst>
          </a:prstGeom>
          <a:solidFill>
            <a:srgbClr val="F0F6F5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123944"/>
            <a:ext cx="3108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组件 / 拖拽交互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2651760"/>
            <a:ext cx="2011680" cy="1645920"/>
          </a:xfrm>
          <a:prstGeom prst="roundRect">
            <a:avLst>
              <a:gd name="adj" fmla="val 5556"/>
            </a:avLst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89204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preload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传话筒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892040" y="37033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7A4A0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window.api 白名单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269480" y="1828800"/>
            <a:ext cx="4389120" cy="3291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543800" y="201168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主进程（管家）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543800" y="2514600"/>
            <a:ext cx="3840480" cy="658368"/>
          </a:xfrm>
          <a:prstGeom prst="roundRect">
            <a:avLst>
              <a:gd name="adj" fmla="val 12500"/>
            </a:avLst>
          </a:prstGeom>
          <a:solidFill>
            <a:srgbClr val="F0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7726680" y="2514600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 IO / 对话框 / 最近文件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543800" y="3319272"/>
            <a:ext cx="3840480" cy="658368"/>
          </a:xfrm>
          <a:prstGeom prst="roundRect">
            <a:avLst>
              <a:gd name="adj" fmla="val 12500"/>
            </a:avLst>
          </a:prstGeom>
          <a:solidFill>
            <a:srgbClr val="F0F6F5"/>
          </a:solidFill>
          <a:ln/>
        </p:spPr>
      </p:sp>
      <p:sp>
        <p:nvSpPr>
          <p:cNvPr id="22" name="Text 20"/>
          <p:cNvSpPr/>
          <p:nvPr/>
        </p:nvSpPr>
        <p:spPr>
          <a:xfrm>
            <a:off x="7726680" y="331927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CSV · Excel 解析 / 数据安检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543800" y="4123944"/>
            <a:ext cx="3840480" cy="658368"/>
          </a:xfrm>
          <a:prstGeom prst="roundRect">
            <a:avLst>
              <a:gd name="adj" fmla="val 12500"/>
            </a:avLst>
          </a:prstGeom>
          <a:solidFill>
            <a:srgbClr val="F0F6F5"/>
          </a:solidFill>
          <a:ln/>
        </p:spPr>
      </p:sp>
      <p:sp>
        <p:nvSpPr>
          <p:cNvPr id="24" name="Text 22"/>
          <p:cNvSpPr/>
          <p:nvPr/>
        </p:nvSpPr>
        <p:spPr>
          <a:xfrm>
            <a:off x="7726680" y="4123944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草稿 · 备份 · PDF / 打印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90288" y="3063240"/>
            <a:ext cx="27432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590288" y="3429000"/>
            <a:ext cx="-27432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31152" y="3063240"/>
            <a:ext cx="310896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242048" y="3429000"/>
            <a:ext cx="-310896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572000" y="2148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invoke（异步请求）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480560" y="44348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sendSync（关窗同步兜底）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5440680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界面运行在沙箱中：不能碰磁盘、不能开网页；每一次读写都要经 preload 白名单「传话」给主进程代办。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 FLOW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点下「生成方案」之后发生了什么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8952" y="2020824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758952" y="2020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1417320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拆件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笔记本 ×3 → 3 个独立件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105656" y="2276856"/>
            <a:ext cx="1828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325112" y="17830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81144" y="2020824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4581144" y="2020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5239512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贪心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99432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最贵的给拿得最少的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927848" y="2276856"/>
            <a:ext cx="1828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47304" y="178308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3336" y="2020824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8403336" y="202082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061704" y="203911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优化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21624" y="26974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挪 / 换缩差距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374904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58952" y="3986784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758952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417320" y="4005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77240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差值 · 标准差 · 覆盖率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105656" y="4242816"/>
            <a:ext cx="1828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4325112" y="374904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81144" y="3986784"/>
            <a:ext cx="512064" cy="51206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4581144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5239512" y="4005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599432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存为新方案（可撤销）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927848" y="4242816"/>
            <a:ext cx="1828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147304" y="3749040"/>
            <a:ext cx="356616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403336" y="3986784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7" name="Text 35"/>
          <p:cNvSpPr/>
          <p:nvPr/>
        </p:nvSpPr>
        <p:spPr>
          <a:xfrm>
            <a:off x="8403336" y="3986784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900" dirty="0"/>
          </a:p>
        </p:txBody>
      </p:sp>
      <p:sp>
        <p:nvSpPr>
          <p:cNvPr id="38" name="Text 36"/>
          <p:cNvSpPr/>
          <p:nvPr/>
        </p:nvSpPr>
        <p:spPr>
          <a:xfrm>
            <a:off x="9061704" y="4005072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刷新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8421624" y="46634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界面重渲 + 1.5s 后存草稿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先算后存：任何一步抛异常（如超 5000 件），状态零变化、历史零污染。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PERSISTENCE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你的数据住在哪里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.mproj 项目文件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3931920" y="171907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自选位置保存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92240" y="17190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JSON 格式，跨机器可迁移，载入过安检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441448"/>
            <a:ext cx="11183112" cy="0"/>
          </a:xfrm>
          <a:prstGeom prst="line">
            <a:avLst/>
          </a:prstGeom>
          <a:noFill/>
          <a:ln w="12700">
            <a:solidFill>
              <a:srgbClr val="E8EF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7919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.bak 备份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931920" y="27066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与项目同目录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706624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每次覆盖保存前自动生成上一步快照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429000"/>
            <a:ext cx="11183112" cy="0"/>
          </a:xfrm>
          <a:prstGeom prst="line">
            <a:avLst/>
          </a:prstGeom>
          <a:noFill/>
          <a:ln w="12700">
            <a:solidFill>
              <a:srgbClr val="E8EF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6674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草稿 draft.mproj.json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931920" y="369417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系统用户目录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3694176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改动后 1.5s 防抖保存 + 关窗同步兜底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4416552"/>
            <a:ext cx="11183112" cy="0"/>
          </a:xfrm>
          <a:prstGeom prst="line">
            <a:avLst/>
          </a:prstGeom>
          <a:noFill/>
          <a:ln w="12700">
            <a:solidFill>
              <a:srgbClr val="E8EFE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54296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recents.json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931920" y="4681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系统用户目录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4681728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最近 10 个项目，失效条目自动清理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5623560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0F6F5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意外关闭？下次启动会询问「是否恢复草稿」——恢复的是完整项目状态，含方案与手动调整。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DETERMINISM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确定性：同样的输入，永远同样的结果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737360"/>
            <a:ext cx="5486400" cy="3931920"/>
          </a:xfrm>
          <a:prstGeom prst="roundRect">
            <a:avLst>
              <a:gd name="adj" fmla="val 2093"/>
            </a:avLst>
          </a:prstGeom>
          <a:solidFill>
            <a:srgbClr val="FBF3E4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38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常见做法（我们放弃了）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设一个墙钟时间预算（如 2.5 秒）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快机器多算几轮，慢机器少算几轮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同一清单，不同电脑 → 不同结果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「公平」变成了碰运气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5349240" cy="3931920"/>
          </a:xfrm>
          <a:prstGeom prst="roundRect">
            <a:avLst>
              <a:gd name="adj" fmla="val 2093"/>
            </a:avLst>
          </a:prstGeom>
          <a:solidFill>
            <a:srgbClr val="F0F6F5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938528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本工具的做法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720840" y="2423160"/>
            <a:ext cx="4663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预算按「候选操作评估次数」计（200 万次）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与机器快慢完全无关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同输入两次运行结果逐字节一致</a:t>
            </a:r>
            <a:endParaRPr lang="en-US" sz="1400" dirty="0"/>
          </a:p>
          <a:p>
            <a:pPr marL="152400" indent="-1524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另有 8 秒应急止损，仅极端规模触发并告警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" y="589788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回归测试锁定：500 件 / 50 人两次运行结果全等（tests/algorithms.spec.ts）。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SECURITY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安全与可靠性：看不见的地方更较真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0F6F5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280160" y="1819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沙箱 + 上下文隔离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280160" y="22037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界面进程与系统隔离，preload 只暴露白名单 API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91640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0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2002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995160" y="1819656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导航拦截 + CSP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6995160" y="220370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禁止打开外部网页 / 新窗口；内容安全策略锁死脚本来源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081528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0F6F5"/>
          </a:solidFill>
          <a:ln/>
        </p:spPr>
      </p:sp>
      <p:sp>
        <p:nvSpPr>
          <p:cNvPr id="15" name="Text 13"/>
          <p:cNvSpPr/>
          <p:nvPr/>
        </p:nvSpPr>
        <p:spPr>
          <a:xfrm>
            <a:off x="704088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80160" y="3209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原子写入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280160" y="35935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临时文件 + 改名覆盖：断电、磁盘满不留半截文件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3081528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0F6F5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95160" y="3209544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关窗确认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995160" y="359359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有未保存修改时弹确认，退出前自动留草稿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02920" y="4471416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0F6F5"/>
          </a:solidFill>
          <a:ln/>
        </p:spPr>
      </p:sp>
      <p:sp>
        <p:nvSpPr>
          <p:cNvPr id="23" name="Text 21"/>
          <p:cNvSpPr/>
          <p:nvPr/>
        </p:nvSpPr>
        <p:spPr>
          <a:xfrm>
            <a:off x="70408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打印失败如实上报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128016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系统拒绝打印时明确报错，不再伪装成功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217920" y="4471416"/>
            <a:ext cx="5468112" cy="1170432"/>
          </a:xfrm>
          <a:prstGeom prst="roundRect">
            <a:avLst>
              <a:gd name="adj" fmla="val 7031"/>
            </a:avLst>
          </a:prstGeom>
          <a:solidFill>
            <a:srgbClr val="F0F6F5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6995160" y="459943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CSV 防注入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995160" y="498348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= 开头的内容自动转义，防止 Excel 执行公式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质量保障：86 个测试组成的安全网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83080"/>
          <a:ext cx="60350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903720" y="18288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三层防护网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903720" y="219456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算法指标硬断言 + store 行为断言 + 解析/导出快照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03720" y="2880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验收指标入测试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6903720" y="32461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物资/20 人差值 ≤ 平均 5% 直接写成断言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90372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确定性入测试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903720" y="4297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 件两次运行结果全等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903720" y="49834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 强制执行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903720" y="53492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lint → 类型检查 → 测试，不过不许打包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502920" y="58978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数据来源：vitest 运行报告（2026-08，v1.1.0）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CI/CD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 git push 到安装包，全程无人值守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82880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37544F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 push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935224" y="2212848"/>
            <a:ext cx="393192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383280" y="182880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ESLint 检查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15584" y="2212848"/>
            <a:ext cx="393192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6263640" y="182880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626364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类型检查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695944" y="2212848"/>
            <a:ext cx="393192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144000" y="1828800"/>
            <a:ext cx="2377440" cy="777240"/>
          </a:xfrm>
          <a:prstGeom prst="roundRect">
            <a:avLst>
              <a:gd name="adj" fmla="val 10588"/>
            </a:avLst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18288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86 个测试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0" y="274320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任一环节失败 → 构建直接被拦下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011680" y="3383280"/>
            <a:ext cx="3749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86000" y="35112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x64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28600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安装版 + 便携版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3931920" y="3063240"/>
            <a:ext cx="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3913632" y="2697480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400800" y="3383280"/>
            <a:ext cx="37490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675120" y="35112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Linux ARM64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675120" y="391363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deb + tar.gz（麒麟 V10）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321040" y="3063240"/>
            <a:ext cx="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302752" y="2697480"/>
            <a:ext cx="0" cy="64008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02920" y="4892040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F0F6F5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4892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Artifacts 构建产物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 push 自动产出，保留 14 天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6263640" y="4892040"/>
            <a:ext cx="5394960" cy="1005840"/>
          </a:xfrm>
          <a:prstGeom prst="roundRect">
            <a:avLst>
              <a:gd name="adj" fmla="val 8182"/>
            </a:avLst>
          </a:prstGeom>
          <a:solidFill>
            <a:srgbClr val="FBF3E4"/>
          </a:solidFill>
          <a:ln/>
        </p:spPr>
      </p:sp>
      <p:sp>
        <p:nvSpPr>
          <p:cNvPr id="31" name="Text 29"/>
          <p:cNvSpPr/>
          <p:nvPr/>
        </p:nvSpPr>
        <p:spPr>
          <a:xfrm>
            <a:off x="6583680" y="4892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5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 v* 标签 → 自动发 Release</a:t>
            </a:r>
            <a:endParaRPr lang="en-US" sz="13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 与 package.json 版本一致性由 CI 校验</a:t>
            </a:r>
            <a:endParaRPr lang="en-US" sz="13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STRUCTURE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项目结构：5700 行代码各司其职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02920" y="1783080"/>
          <a:ext cx="49377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6126480" y="1783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src/main/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595360" y="18013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管家：文件、解析、草稿、打印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126480" y="25877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src/preload/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595360" y="2606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传话筒：window.api 白名单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126480" y="339242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src/renderer/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595360" y="341071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界面 + 算法 + 仓库 + 导出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126480" y="41970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src/shared/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8595360" y="421538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两边的契约：类型 + 安检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26480" y="500176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8595360" y="502005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86 个用例的安全网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6126480" y="5806440"/>
            <a:ext cx="5577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配套文档：docs/项目文件结构说明.md（小白版，含「改哪儿」速查表）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C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371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1B5A5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557784" y="32461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使用指南与展望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57784" y="422452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五步上手   ·   快捷键   ·   性能指标   ·   版本路线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五步上手：从安装到签字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9202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61288" y="2240280"/>
            <a:ext cx="768096" cy="7680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1161288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630936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准备清单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67512" y="3639312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下载模板照着填，或直接导入现有 Excel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3429000"/>
            <a:ext cx="1828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788920" y="19202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47288" y="2240280"/>
            <a:ext cx="768096" cy="7680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3447288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916936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 / 录入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953512" y="3639312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 + 人员各就各位，顺手设标题与货币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92040" y="3429000"/>
            <a:ext cx="1828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074920" y="19202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733288" y="2240280"/>
            <a:ext cx="768096" cy="7680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0" name="Text 18"/>
          <p:cNvSpPr/>
          <p:nvPr/>
        </p:nvSpPr>
        <p:spPr>
          <a:xfrm>
            <a:off x="5733288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202936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一键生成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239512" y="3639312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选「贪心 + 优化」，差值立刻可见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3429000"/>
            <a:ext cx="1828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360920" y="19202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19288" y="2240280"/>
            <a:ext cx="768096" cy="768096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8019288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7488936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微调确认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25512" y="3639312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拖拽个别件、锁定特殊归属、排除请假者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9464040" y="3429000"/>
            <a:ext cx="182880" cy="0"/>
          </a:xfrm>
          <a:prstGeom prst="line">
            <a:avLst/>
          </a:prstGeom>
          <a:noFill/>
          <a:ln w="27940">
            <a:solidFill>
              <a:srgbClr val="0F766E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46920" y="1920240"/>
            <a:ext cx="2084832" cy="3017520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C3B36">
                <a:alpha val="13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10305288" y="2240280"/>
            <a:ext cx="768096" cy="768096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32" name="Text 30"/>
          <p:cNvSpPr/>
          <p:nvPr/>
        </p:nvSpPr>
        <p:spPr>
          <a:xfrm>
            <a:off x="10305288" y="224028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9774936" y="32004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打印签收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811512" y="3639312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A4 表格直接打印，或导出 PDF 存档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0" y="5394960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全程不需要联网、不需要注册、不需要看说明书。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SHORTCUTS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快捷键：手不离键盘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CEBE9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6916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017520" y="18196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新建项目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CEBE9"/>
          </a:solidFill>
          <a:ln/>
        </p:spPr>
      </p:sp>
      <p:sp>
        <p:nvSpPr>
          <p:cNvPr id="10" name="Text 8"/>
          <p:cNvSpPr/>
          <p:nvPr/>
        </p:nvSpPr>
        <p:spPr>
          <a:xfrm>
            <a:off x="6217920" y="169164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732520" y="181965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打开项目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CEBE9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7432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017520" y="28712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217920" y="274320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CEBE9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74320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Shift + 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732520" y="287121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另存为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CEBE9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794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017520" y="39227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217920" y="379476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CEBE9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379476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Z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732520" y="392277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撤销（50 步）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02920" y="484632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CEBE9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4846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+ Y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017520" y="49743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重做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217920" y="4846320"/>
            <a:ext cx="2286000" cy="658368"/>
          </a:xfrm>
          <a:prstGeom prst="roundRect">
            <a:avLst>
              <a:gd name="adj" fmla="val 11111"/>
            </a:avLst>
          </a:prstGeom>
          <a:solidFill>
            <a:srgbClr val="DCEBE9"/>
          </a:solidFill>
          <a:ln/>
        </p:spPr>
      </p:sp>
      <p:sp>
        <p:nvSpPr>
          <p:cNvPr id="28" name="Text 26"/>
          <p:cNvSpPr/>
          <p:nvPr/>
        </p:nvSpPr>
        <p:spPr>
          <a:xfrm>
            <a:off x="6217920" y="4846320"/>
            <a:ext cx="2286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拖入文件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732520" y="4974336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打开 / 导入对应类型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02920" y="5623560"/>
            <a:ext cx="11183112" cy="731520"/>
          </a:xfrm>
          <a:prstGeom prst="roundRect">
            <a:avLst>
              <a:gd name="adj" fmla="val 11250"/>
            </a:avLst>
          </a:prstGeom>
          <a:solidFill>
            <a:srgbClr val="F0F6F5"/>
          </a:solidFill>
          <a:ln/>
        </p:spPr>
      </p:sp>
      <p:sp>
        <p:nvSpPr>
          <p:cNvPr id="31" name="Text 29"/>
          <p:cNvSpPr/>
          <p:nvPr/>
        </p:nvSpPr>
        <p:spPr>
          <a:xfrm>
            <a:off x="822960" y="562356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输入框内的 Ctrl+Z 保留系统文本撤销，与项目撤销互不干扰；按住不放只算一步，不会穿透历史。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PERFORMANCE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性能与验收：指标写在测试里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59E0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0.39s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02920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 件 / 50 人优化耗时（要求 &lt; 3s）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315968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 5%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315968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物资 / 20 人最大差值 / 平均值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19872" y="182880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 万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8119872" y="2633472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候选评估预算（确定性上限）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5156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5000 件上限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749040" y="3813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超限提前拦截并提示，杜绝界面卡死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051560" y="441655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200 人上限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74904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与件数上限配合，任何操作瞬时响应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051560" y="5038344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 步撤销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49040" y="505663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快照式实现，任意回跳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051560" y="566013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 个方案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3749040" y="5678424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历史容量充足，自动淘汰最旧</a:t>
            </a:r>
            <a:endParaRPr lang="en-US" sz="13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物资均衡分配工具 · 系统介绍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292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ROADMAP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02920" y="676656"/>
            <a:ext cx="111831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版本路线：1.0 → 1.1 → 未来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097280" y="2377440"/>
            <a:ext cx="8778240" cy="0"/>
          </a:xfrm>
          <a:prstGeom prst="line">
            <a:avLst/>
          </a:prstGeom>
          <a:noFill/>
          <a:ln w="38100">
            <a:solidFill>
              <a:srgbClr val="8FD4C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87552" y="2267712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8" name="Text 6"/>
          <p:cNvSpPr/>
          <p:nvPr/>
        </p:nvSpPr>
        <p:spPr>
          <a:xfrm>
            <a:off x="987552" y="2697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v1.0.0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2025-08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87552" y="3520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三策略 · 打印导出 · 项目文件 · 撤销重做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370832" y="2267712"/>
            <a:ext cx="237744" cy="23774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370832" y="2697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v1.1.0（当前）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70832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2026-08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370832" y="3520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30+ 缺陷修复 · 未分配池 · 锁定重优化 · Excel 导出 · 页码 · 工程化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54112" y="2267712"/>
            <a:ext cx="237744" cy="23774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754112" y="26974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未来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54112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77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—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54112" y="35204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打印预览与边距配置 · 代码签名 · SheetJS 升级 · 界面主题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4937760"/>
            <a:ext cx="11183112" cy="1051560"/>
          </a:xfrm>
          <a:prstGeom prst="roundRect">
            <a:avLst>
              <a:gd name="adj" fmla="val 7826"/>
            </a:avLst>
          </a:prstGeom>
          <a:solidFill>
            <a:srgbClr val="F0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93776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50" b="1" dirty="0">
                <a:solidFill>
                  <a:srgbClr val="0F766E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v1.1.0 修复的关键缺陷（节选）：</a:t>
            </a:r>
            <a:endParaRPr lang="en-US" sz="13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50" dirty="0">
                <a:solidFill>
                  <a:srgbClr val="1F2D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损坏文件不再崩溃 · 算法结果跨机器一致 · 数量调整后不再静默漏分配 · 关窗未保存确认 · 打印失败如实报错 · CSV 防公式注入</a:t>
            </a:r>
            <a:endParaRPr lang="en-US" sz="13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C3B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23360" y="4224528"/>
            <a:ext cx="4142232" cy="0"/>
          </a:xfrm>
          <a:prstGeom prst="line">
            <a:avLst/>
          </a:prstGeom>
          <a:noFill/>
          <a:ln w="38100">
            <a:solidFill>
              <a:srgbClr val="8FD4C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88736" y="4279392"/>
            <a:ext cx="420624" cy="365760"/>
          </a:xfrm>
          <a:prstGeom prst="triangle">
            <a:avLst/>
          </a:prstGeom>
          <a:solidFill>
            <a:srgbClr val="F59E0B"/>
          </a:solidFill>
          <a:ln/>
        </p:spPr>
      </p:sp>
      <p:sp>
        <p:nvSpPr>
          <p:cNvPr id="4" name="Shape 2"/>
          <p:cNvSpPr/>
          <p:nvPr/>
        </p:nvSpPr>
        <p:spPr>
          <a:xfrm>
            <a:off x="3639312" y="3913632"/>
            <a:ext cx="621792" cy="621792"/>
          </a:xfrm>
          <a:prstGeom prst="ellipse">
            <a:avLst/>
          </a:prstGeom>
          <a:solidFill>
            <a:srgbClr val="14A89C"/>
          </a:solidFill>
          <a:ln/>
        </p:spPr>
      </p:sp>
      <p:sp>
        <p:nvSpPr>
          <p:cNvPr id="5" name="Shape 3"/>
          <p:cNvSpPr/>
          <p:nvPr/>
        </p:nvSpPr>
        <p:spPr>
          <a:xfrm>
            <a:off x="7936992" y="3913632"/>
            <a:ext cx="621792" cy="621792"/>
          </a:xfrm>
          <a:prstGeom prst="ellipse">
            <a:avLst/>
          </a:prstGeom>
          <a:solidFill>
            <a:srgbClr val="14A89C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1828800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spc="600" kern="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谢谢观看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0" y="2834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愿每一次发放，都分得明明白白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0" y="507492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FD4CD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github.com/lzh745200/material-balancer   ·   v1.1.0   ·   MIT License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物资均衡分配工具 · 系统介绍</dc:title>
  <dc:subject>PptxGenJS Presentation</dc:subject>
  <dc:creator>Material Balancer Team</dc:creator>
  <cp:lastModifiedBy>Material Balancer Team</cp:lastModifiedBy>
  <cp:revision>1</cp:revision>
  <dcterms:created xsi:type="dcterms:W3CDTF">2026-08-30T23:40:25Z</dcterms:created>
  <dcterms:modified xsi:type="dcterms:W3CDTF">2026-08-30T23:40:25Z</dcterms:modified>
</cp:coreProperties>
</file>